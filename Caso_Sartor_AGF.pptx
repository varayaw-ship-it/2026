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ualización" id="{72fc7b1c-3956-49fb-c7f1-3c3fc8373db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ituación ética" id="{3f5af70b-125d-b59d-1457-73142c6820cd}">
          <p14:sldIdLst>
            <p14:sldId id="262"/>
            <p14:sldId id="263"/>
            <p14:sldId id="264"/>
          </p14:sldIdLst>
        </p14:section>
        <p14:section name="Cierre" id="{f85f2183-e61d-deba-ee97-010597e10c2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Directores: multa CMF (miles de UF)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Multa (miles UF)</c:v>
                </c:pt>
              </c:strCache>
            </c:strRef>
          </c:tx>
          <c:spPr>
            <a:solidFill>
              <a:srgbClr val="9DB8B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8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A53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M. León</c:v>
                  </c:pt>
                  <c:pt idx="1">
                    <c:v>Ó. Ebel</c:v>
                  </c:pt>
                  <c:pt idx="2">
                    <c:v>J.C. Jorquera*</c:v>
                  </c:pt>
                  <c:pt idx="3">
                    <c:v>R. Bustamante</c:v>
                  </c:pt>
                  <c:pt idx="4">
                    <c:v>M. Valdés*</c:v>
                  </c:pt>
                  <c:pt idx="5">
                    <c:v>M. Clark</c:v>
                  </c:pt>
                  <c:pt idx="6">
                    <c:v>A. Harz</c:v>
                  </c:pt>
                  <c:pt idx="7">
                    <c:v>P.P. Larraín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22.5</c:v>
                </c:pt>
                <c:pt idx="2">
                  <c:v>35</c:v>
                </c:pt>
                <c:pt idx="3">
                  <c:v>35</c:v>
                </c:pt>
                <c:pt idx="4">
                  <c:v>45</c:v>
                </c:pt>
                <c:pt idx="5">
                  <c:v>65</c:v>
                </c:pt>
                <c:pt idx="6">
                  <c:v>75</c:v>
                </c:pt>
                <c:pt idx="7">
                  <c:v>80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Hoy les traemos el Caso Sartor, que tiene la multa más alta a una persona en la historia de la CMF y es el primer gran caso de la Ley de Delitos Económicos. La pregunta que guía todo es simple: ¿de quién es la plata que uno administra? Antes de contar el caso, queremos saber qué piensan ustedes.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Levanten la mano quienes le prestarían; ahora quienes no; ahora quienes dicen depende. Anotamos el resultado en la lámina, porque lo vamos a repetir al final. Guarden su respuesta: eso es exactamente lo que hizo Sartor, y así terminó.
Respaldo si nadie vota: ¿Y si la plata fuera la de tus abuelos jubilados, se la prestarías a la empresa del administrador?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En noviembre de 2024 la CMF suspende aportes, luego rescates, y en diciembre revoca la existencia de Sartor AGF. En noviembre de 2025 aplica una sanción histórica: 367.500 UF en multas e inhabilidad por cinco años. Los puntos llenos son hechos sancionados por la CMF; los vacíos son la arista penal, que sigue en investigación y donde rige la presunción de inocencia. Ahora [Integrante 2] les explica cómo funcionaba el esquema.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Los aportantes confiaban su plata a los fondos de Sartor. Según la CMF, la AGF la prestó a empresas ligadas a sus propios directores y controladores, como Danke y ECapital, que ya estaban en mora y sin garantías. Los créditos se reprogramaban sin que volviera ni capital ni intereses: unos US$102 millones en operaciones con relacionados. Veamos quiénes son los actores.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El caso ocurre en la industria de administración de fondos, fiscalizada por la CMF. Ocho directores y ejecutivos fueron multados; Pedro Pablo Larraín, expresidente del directorio, recibió 80.000 UF, la multa más alta a una persona en la historia de la CMF. Del otro lado están la Fiscalía, los aportantes y Azul Azul, porque Michael Clark presidía la concesionaria de la U. y Sartor era dueño vía el fondo Tactical Sport. Pero no todos los medios contaron esta historia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La prensa económica, Diario Financiero y Pulso de La Tercera, se enfocó en el regulador, las multas y el mercado. CIPER, en una columna de opinión, lo calificó como el mayor caso de abuso fiduciario sancionado en Chile; BioBío y The Clinic pusieron el foco en las víctimas, y T13 Deportes en la U. de Chile. Cada enfoque ilumina una parte, pero ninguno, por sí solo, nombra el dilema de fondo: eso se lo dejo a [Integrante 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El dilema central es un conflicto de interés que rompe el deber fiduciario: quien administra plata ajena debe actuar solo en interés del dueño, y aquí los directores la usaron para financiar sus propias empresas. Todo lo demás deriva de ahí: estados financieros que no reflejaban la realidad, directores con cargos simultáneos en la AGF y en Sartor WM, y créditos sin garantías. La defensa sostiene que el conflicto de interés de una AGF no existe como concepto en la ley; nuestra pregunta es si algo legal puede ser igualmente antiético. Veamos ahora hasta dónde llegaron las consecuencias.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En lo organizacional, la AGF perdió su autorización, quebró y sus directores quedaron inhabilitados por cinco años. En lo social, peritajes de PwC y Deloitte mostraron deterioros de hasta 85% en diez fondos, y en junio de 2026 55 afectados escribieron que no saben cuánto ni cuándo recuperarán; Toesca solo ha distribuido $4.543 millones a aportantes de dos fondos. En lo reputacional, se daña la confianza en toda la industria y salpica a la U. de Chile. Ahora miremos el caso con las escuelas éticas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Para el utilitarismo, el balance es negativo: unos pocos se benefician y muchos aportantes pierden sus ahorros. Para Kant, se usó a los aportantes como medio y se mintió en los estados financieros, algo no universalizable. Para la ética de la virtud, faltó el carácter del buen administrador: honestidad, prudencia y justicia. Ahora [Integrante 4] los pone a ustedes en la silla del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4: Imaginen que son directores en noviembre de 2023, saben que Danke no paga y les toca firmar los estados financieros. Voten A, B o C, y pedimos a dos o tres personas que justifiquen. Fíjense que la opción A es la que, según la CMF, terminó en estados financieros que no reflejaban la realidad.
Respaldo si nadie habla: ¿Cuál opción elegirías si tu bono dependiera de que el fondo se vea rentable este año?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4: El aprendizaje central es que quien administra plata ajena no es dueño de la confianza que le entregaron: la confianza es el activo, y no es tuyo. Repitamos la votación del inicio y comparemos con lo que anotamos: ¿cambió algo? Para cerrar, los invitamos a discutir si la sanción fue justa o si el regulador llegó tarde. Muchas gracias.
Respaldo si nadie participa: ¿Debería la ley prohibir expresamente que una AGF preste a empresas de sus propios directores, o basta con la ética?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Caso Sartor AGF · Ética · FEN U. de Chile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Caso Sartor AGF · Ética · FEN U. de Chile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ACCION">
    <p:bg>
      <p:bgPr>
        <a:solidFill>
          <a:srgbClr val="F2A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Caso Sartor AGF · Ética · FEN U. de Chile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777240"/>
            <a:ext cx="82296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ÉTICA · INGENIERÍA COMERCIAL · FEN U. DE CHILE</a:t>
            </a:r>
            <a:endParaRPr lang="en-US" sz="1100" dirty="0"/>
          </a:p>
        </p:txBody>
      </p:sp>
      <p:sp>
        <p:nvSpPr>
          <p:cNvPr id="4" name="Título portada"/>
          <p:cNvSpPr txBox="1"/>
          <p:nvPr/>
        </p:nvSpPr>
        <p:spPr>
          <a:xfrm>
            <a:off x="45720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Caso Sartor:</a:t>
            </a:r>
            <a:endParaRPr lang="en-US" sz="46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¿de quién es la plata que administras?</a:t>
            </a:r>
            <a:endParaRPr lang="en-US" sz="4600" dirty="0"/>
          </a:p>
        </p:txBody>
      </p:sp>
      <p:sp>
        <p:nvSpPr>
          <p:cNvPr id="5" name="Cifra portada"/>
          <p:cNvSpPr/>
          <p:nvPr/>
        </p:nvSpPr>
        <p:spPr>
          <a:xfrm>
            <a:off x="457200" y="3246120"/>
            <a:ext cx="25146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367.500 UF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 multas CMF</a:t>
            </a:r>
            <a:endParaRPr lang="en-US" sz="1200" dirty="0"/>
          </a:p>
        </p:txBody>
      </p:sp>
      <p:sp>
        <p:nvSpPr>
          <p:cNvPr id="8" name="Cifra portada"/>
          <p:cNvSpPr/>
          <p:nvPr/>
        </p:nvSpPr>
        <p:spPr>
          <a:xfrm>
            <a:off x="3246120" y="3246120"/>
            <a:ext cx="25146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Hasta 85%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 deterioro en fondos</a:t>
            </a:r>
            <a:endParaRPr lang="en-US" sz="1200" dirty="0"/>
          </a:p>
        </p:txBody>
      </p:sp>
      <p:sp>
        <p:nvSpPr>
          <p:cNvPr id="11" name="Cifra portada"/>
          <p:cNvSpPr/>
          <p:nvPr/>
        </p:nvSpPr>
        <p:spPr>
          <a:xfrm>
            <a:off x="6035040" y="3246120"/>
            <a:ext cx="25146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formalizados (en investigación)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VOTACIÓN A MANO ALZADA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7772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Administras ahorros de otros. Tu propia empresa necesita un crédito y crees que es buen negocio. ¿Se lo prestas?</a:t>
            </a:r>
            <a:endParaRPr lang="en-US" sz="2800" dirty="0"/>
          </a:p>
        </p:txBody>
      </p:sp>
      <p:sp>
        <p:nvSpPr>
          <p:cNvPr id="5" name="Opción A"/>
          <p:cNvSpPr/>
          <p:nvPr/>
        </p:nvSpPr>
        <p:spPr>
          <a:xfrm>
            <a:off x="457200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51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Sí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Votos: ______</a:t>
            </a:r>
            <a:endParaRPr lang="en-US" sz="1300" dirty="0"/>
          </a:p>
        </p:txBody>
      </p:sp>
      <p:sp>
        <p:nvSpPr>
          <p:cNvPr id="9" name="Opción B"/>
          <p:cNvSpPr/>
          <p:nvPr/>
        </p:nvSpPr>
        <p:spPr>
          <a:xfrm>
            <a:off x="3246120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651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B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Votos: ______</a:t>
            </a:r>
            <a:endParaRPr lang="en-US" sz="1300" dirty="0"/>
          </a:p>
        </p:txBody>
      </p:sp>
      <p:sp>
        <p:nvSpPr>
          <p:cNvPr id="13" name="Opción C"/>
          <p:cNvSpPr/>
          <p:nvPr/>
        </p:nvSpPr>
        <p:spPr>
          <a:xfrm>
            <a:off x="6035040" y="2514600"/>
            <a:ext cx="2514600" cy="1737360"/>
          </a:xfrm>
          <a:prstGeom prst="roundRect">
            <a:avLst>
              <a:gd name="adj" fmla="val 5263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651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Depende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Votos: ______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Qué pasó: 2024–2026</a:t>
            </a:r>
            <a:endParaRPr lang="en-US" sz="3000" dirty="0"/>
          </a:p>
        </p:txBody>
      </p:sp>
      <p:sp>
        <p:nvSpPr>
          <p:cNvPr id="4" name="Zona penal"/>
          <p:cNvSpPr/>
          <p:nvPr/>
        </p:nvSpPr>
        <p:spPr>
          <a:xfrm>
            <a:off x="612648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63640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2"/>
                </a:solidFill>
              </a:rPr>
              <a:t>ARISTA PENAL</a:t>
            </a:r>
            <a:endParaRPr lang="en-US" sz="1000" dirty="0"/>
          </a:p>
        </p:txBody>
      </p:sp>
      <p:sp>
        <p:nvSpPr>
          <p:cNvPr id="6" name="Eje tiempo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Hito"/>
          <p:cNvSpPr/>
          <p:nvPr/>
        </p:nvSpPr>
        <p:spPr>
          <a:xfrm>
            <a:off x="749808" y="25786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nov 2024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CMF suspende aportes</a:t>
            </a:r>
            <a:endParaRPr lang="en-US" sz="1200" dirty="0"/>
          </a:p>
        </p:txBody>
      </p:sp>
      <p:sp>
        <p:nvSpPr>
          <p:cNvPr id="9" name="Hito"/>
          <p:cNvSpPr/>
          <p:nvPr/>
        </p:nvSpPr>
        <p:spPr>
          <a:xfrm>
            <a:off x="1938528" y="25786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971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dic 2024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Suspende rescates y revoca la AGF</a:t>
            </a:r>
            <a:endParaRPr lang="en-US" sz="1200" dirty="0"/>
          </a:p>
        </p:txBody>
      </p:sp>
      <p:sp>
        <p:nvSpPr>
          <p:cNvPr id="11" name="Hito"/>
          <p:cNvSpPr/>
          <p:nvPr/>
        </p:nvSpPr>
        <p:spPr>
          <a:xfrm>
            <a:off x="3127248" y="25786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ago 2025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Fondos con deterioro de hasta 85%</a:t>
            </a:r>
            <a:endParaRPr lang="en-US" sz="1200" dirty="0"/>
          </a:p>
        </p:txBody>
      </p:sp>
      <p:sp>
        <p:nvSpPr>
          <p:cNvPr id="13" name="Hito"/>
          <p:cNvSpPr/>
          <p:nvPr/>
        </p:nvSpPr>
        <p:spPr>
          <a:xfrm>
            <a:off x="4315968" y="25786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971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 nov 2025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Multa histórica: 367.500 UF</a:t>
            </a:r>
            <a:endParaRPr lang="en-US" sz="1200" dirty="0"/>
          </a:p>
        </p:txBody>
      </p:sp>
      <p:sp>
        <p:nvSpPr>
          <p:cNvPr id="15" name="Hito"/>
          <p:cNvSpPr/>
          <p:nvPr/>
        </p:nvSpPr>
        <p:spPr>
          <a:xfrm>
            <a:off x="5504688" y="257860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jun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55 afectados: no saben cuándo recuperan</a:t>
            </a:r>
            <a:endParaRPr lang="en-US" sz="1200" dirty="0"/>
          </a:p>
        </p:txBody>
      </p:sp>
      <p:sp>
        <p:nvSpPr>
          <p:cNvPr id="17" name="Hito"/>
          <p:cNvSpPr/>
          <p:nvPr/>
        </p:nvSpPr>
        <p:spPr>
          <a:xfrm>
            <a:off x="6693408" y="257860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971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30 jul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11 imputados formalizados</a:t>
            </a:r>
            <a:endParaRPr lang="en-US" sz="1200" dirty="0"/>
          </a:p>
        </p:txBody>
      </p:sp>
      <p:sp>
        <p:nvSpPr>
          <p:cNvPr id="19" name="Hito"/>
          <p:cNvSpPr/>
          <p:nvPr/>
        </p:nvSpPr>
        <p:spPr>
          <a:xfrm>
            <a:off x="7882128" y="257860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 ago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 en prisión preventiva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07408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4352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Sancionado por CMF: hecho establecido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4407408"/>
            <a:ext cx="164592" cy="16459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4352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Penal: en investigación, presunción de inocencia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Cómo funcionaba la plata</a:t>
            </a:r>
            <a:endParaRPr lang="en-US" sz="3000" dirty="0"/>
          </a:p>
        </p:txBody>
      </p:sp>
      <p:sp>
        <p:nvSpPr>
          <p:cNvPr id="4" name="Nodo Aportantes"/>
          <p:cNvSpPr/>
          <p:nvPr/>
        </p:nvSpPr>
        <p:spPr>
          <a:xfrm>
            <a:off x="45720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Aportantes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Jubilados, pymes, familias</a:t>
            </a:r>
            <a:endParaRPr lang="en-US" sz="1200" dirty="0"/>
          </a:p>
        </p:txBody>
      </p:sp>
      <p:sp>
        <p:nvSpPr>
          <p:cNvPr id="7" name="Flecha flujo"/>
          <p:cNvSpPr/>
          <p:nvPr/>
        </p:nvSpPr>
        <p:spPr>
          <a:xfrm>
            <a:off x="2971800" y="1892808"/>
            <a:ext cx="34747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Nodo Fondos Sartor"/>
          <p:cNvSpPr/>
          <p:nvPr/>
        </p:nvSpPr>
        <p:spPr>
          <a:xfrm>
            <a:off x="333756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Fondos Sartor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Administrados por la AGF</a:t>
            </a:r>
            <a:endParaRPr lang="en-US" sz="1200" dirty="0"/>
          </a:p>
        </p:txBody>
      </p:sp>
      <p:sp>
        <p:nvSpPr>
          <p:cNvPr id="11" name="Flecha flujo"/>
          <p:cNvSpPr/>
          <p:nvPr/>
        </p:nvSpPr>
        <p:spPr>
          <a:xfrm>
            <a:off x="5852160" y="1892808"/>
            <a:ext cx="34747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Nodo Empresas propias"/>
          <p:cNvSpPr/>
          <p:nvPr/>
        </p:nvSpPr>
        <p:spPr>
          <a:xfrm>
            <a:off x="621792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Empresas propias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directores: Danke · ECapital · ECapital Leasing</a:t>
            </a:r>
            <a:endParaRPr lang="en-US" sz="1200" dirty="0"/>
          </a:p>
        </p:txBody>
      </p:sp>
      <p:sp>
        <p:nvSpPr>
          <p:cNvPr id="15" name="Retorno que no llega"/>
          <p:cNvSpPr/>
          <p:nvPr/>
        </p:nvSpPr>
        <p:spPr>
          <a:xfrm>
            <a:off x="1691640" y="3063240"/>
            <a:ext cx="57607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head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691640" y="31272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Reprogramados una y otra vez, sin garantías ni pago de capital e intereses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11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US$102 M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749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 operaciones con relacionados, según la CMF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Actores e industria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Industria: administración de fondos (AGF), fiscalizada por la CMF</a:t>
            </a:r>
            <a:endParaRPr lang="en-US" sz="1300" dirty="0"/>
          </a:p>
        </p:txBody>
      </p:sp>
      <p:sp>
        <p:nvSpPr>
          <p:cNvPr id="5" name="Panel multas"/>
          <p:cNvSpPr/>
          <p:nvPr/>
        </p:nvSpPr>
        <p:spPr>
          <a:xfrm>
            <a:off x="457200" y="1417320"/>
            <a:ext cx="41148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3931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*Rebajadas tras reposición: Valdés 35, Jorquera 25</a:t>
            </a:r>
            <a:endParaRPr lang="en-US" sz="1000" dirty="0"/>
          </a:p>
        </p:txBody>
      </p:sp>
      <p:sp>
        <p:nvSpPr>
          <p:cNvPr id="8" name="Actor CMF"/>
          <p:cNvSpPr/>
          <p:nvPr/>
        </p:nvSpPr>
        <p:spPr>
          <a:xfrm>
            <a:off x="4846320" y="141732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9" name="Círculo ícono"/>
          <p:cNvSpPr/>
          <p:nvPr/>
        </p:nvSpPr>
        <p:spPr>
          <a:xfrm>
            <a:off x="49834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CMF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350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Regulador: sancionó y liquidó</a:t>
            </a:r>
            <a:endParaRPr lang="en-US" sz="1000" dirty="0"/>
          </a:p>
        </p:txBody>
      </p:sp>
      <p:sp>
        <p:nvSpPr>
          <p:cNvPr id="13" name="Actor Fiscalía"/>
          <p:cNvSpPr/>
          <p:nvPr/>
        </p:nvSpPr>
        <p:spPr>
          <a:xfrm>
            <a:off x="6812280" y="141732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4" name="Círculo ícono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6687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Fiscalía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949440" y="2350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Acusa 6 delitos a 11 imputados</a:t>
            </a:r>
            <a:endParaRPr lang="en-US" sz="1000" dirty="0"/>
          </a:p>
        </p:txBody>
      </p:sp>
      <p:sp>
        <p:nvSpPr>
          <p:cNvPr id="18" name="Actor Aportantes"/>
          <p:cNvSpPr/>
          <p:nvPr/>
        </p:nvSpPr>
        <p:spPr>
          <a:xfrm>
            <a:off x="4846320" y="304038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9" name="Círculo ícono"/>
          <p:cNvSpPr/>
          <p:nvPr/>
        </p:nvSpPr>
        <p:spPr>
          <a:xfrm>
            <a:off x="4983480" y="31775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í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983480" y="36987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Aportantes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983480" y="39730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Jubilados, profesionales, pymes</a:t>
            </a:r>
            <a:endParaRPr lang="en-US" sz="1000" dirty="0"/>
          </a:p>
        </p:txBody>
      </p:sp>
      <p:sp>
        <p:nvSpPr>
          <p:cNvPr id="23" name="Actor Azul Azul"/>
          <p:cNvSpPr/>
          <p:nvPr/>
        </p:nvSpPr>
        <p:spPr>
          <a:xfrm>
            <a:off x="6812280" y="304038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4" name="Círculo ícono"/>
          <p:cNvSpPr/>
          <p:nvPr/>
        </p:nvSpPr>
        <p:spPr>
          <a:xfrm>
            <a:off x="6949440" y="31775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3" descr="íco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49440" y="36987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Azul Azul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949440" y="39730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Clark la presidía; Sartor era dueño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caso, cuatro enfoques</a:t>
            </a:r>
            <a:endParaRPr lang="en-US" sz="3000" dirty="0"/>
          </a:p>
        </p:txBody>
      </p:sp>
      <p:sp>
        <p:nvSpPr>
          <p:cNvPr id="4" name="Medio 1"/>
          <p:cNvSpPr/>
          <p:nvPr/>
        </p:nvSpPr>
        <p:spPr>
          <a:xfrm>
            <a:off x="457200" y="1188720"/>
            <a:ext cx="1874520" cy="329184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5" name="Círculo ícono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Diario Financiero · La Tercera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FOCO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 regulador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Multas y mercado</a:t>
            </a:r>
            <a:endParaRPr lang="en-US" sz="1200" dirty="0"/>
          </a:p>
        </p:txBody>
      </p:sp>
      <p:sp>
        <p:nvSpPr>
          <p:cNvPr id="11" name="Medio 2"/>
          <p:cNvSpPr/>
          <p:nvPr/>
        </p:nvSpPr>
        <p:spPr>
          <a:xfrm>
            <a:off x="2560320" y="1188720"/>
            <a:ext cx="1874520" cy="329184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12" name="Círculo ícono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087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4320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CIPER (columna)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FOCO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El abuso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Mayor abuso fiduciario sancionado en Chile</a:t>
            </a:r>
            <a:endParaRPr lang="en-US" sz="1200" dirty="0"/>
          </a:p>
        </p:txBody>
      </p:sp>
      <p:sp>
        <p:nvSpPr>
          <p:cNvPr id="18" name="Medio 3"/>
          <p:cNvSpPr/>
          <p:nvPr/>
        </p:nvSpPr>
        <p:spPr>
          <a:xfrm>
            <a:off x="4663440" y="1188720"/>
            <a:ext cx="1874520" cy="329184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19" name="Círculo ícono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BioBío · The Clinic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FOCO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84632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Las víctimas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Jubilados que perdieron ahorros</a:t>
            </a:r>
            <a:endParaRPr lang="en-US" sz="1200" dirty="0"/>
          </a:p>
        </p:txBody>
      </p:sp>
      <p:sp>
        <p:nvSpPr>
          <p:cNvPr id="25" name="Medio 4"/>
          <p:cNvSpPr/>
          <p:nvPr/>
        </p:nvSpPr>
        <p:spPr>
          <a:xfrm>
            <a:off x="6766560" y="1188720"/>
            <a:ext cx="1874520" cy="329184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26" name="Círculo ícono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í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087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4944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T13 Deportes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94944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FOCO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4944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 U. de Chile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Clark y Azul Azul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dilema: plata ajena, interés propio</a:t>
            </a:r>
            <a:endParaRPr lang="en-US" sz="3000" dirty="0"/>
          </a:p>
        </p:txBody>
      </p:sp>
      <p:sp>
        <p:nvSpPr>
          <p:cNvPr id="4" name="Problema central"/>
          <p:cNvSpPr/>
          <p:nvPr/>
        </p:nvSpPr>
        <p:spPr>
          <a:xfrm>
            <a:off x="457200" y="1234440"/>
            <a:ext cx="4206240" cy="3246120"/>
          </a:xfrm>
          <a:prstGeom prst="roundRect">
            <a:avLst>
              <a:gd name="adj" fmla="val 281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PROBLEMA CENTRAL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Conflicto de interés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Quiebre del deber fiduciario: quien administra plata ajena debe actuar solo en interés del dueño.</a:t>
            </a:r>
            <a:endParaRPr lang="en-US" sz="1600" dirty="0"/>
          </a:p>
        </p:txBody>
      </p:sp>
      <p:sp>
        <p:nvSpPr>
          <p:cNvPr id="8" name="Flecha deriva"/>
          <p:cNvSpPr/>
          <p:nvPr/>
        </p:nvSpPr>
        <p:spPr>
          <a:xfrm>
            <a:off x="4754880" y="2852928"/>
            <a:ext cx="4114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30352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CONDUCTAS DERIVADAS</a:t>
            </a:r>
            <a:endParaRPr lang="en-US" sz="1100" dirty="0"/>
          </a:p>
        </p:txBody>
      </p:sp>
      <p:sp>
        <p:nvSpPr>
          <p:cNvPr id="10" name="Conducta 1"/>
          <p:cNvSpPr/>
          <p:nvPr/>
        </p:nvSpPr>
        <p:spPr>
          <a:xfrm>
            <a:off x="5303520" y="1600200"/>
            <a:ext cx="3383280" cy="841248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Información falsa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2996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EE.FF. de fondos Leasing y Táctico</a:t>
            </a:r>
            <a:endParaRPr lang="en-US" sz="1200" dirty="0"/>
          </a:p>
        </p:txBody>
      </p:sp>
      <p:sp>
        <p:nvSpPr>
          <p:cNvPr id="13" name="Conducta 2"/>
          <p:cNvSpPr/>
          <p:nvPr/>
        </p:nvSpPr>
        <p:spPr>
          <a:xfrm>
            <a:off x="5303520" y="2578608"/>
            <a:ext cx="3383280" cy="841248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Cargos simultáneos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00837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Directores en la AGF y en Sartor WM</a:t>
            </a:r>
            <a:endParaRPr lang="en-US" sz="1200" dirty="0"/>
          </a:p>
        </p:txBody>
      </p:sp>
      <p:sp>
        <p:nvSpPr>
          <p:cNvPr id="16" name="Conducta 3"/>
          <p:cNvSpPr/>
          <p:nvPr/>
        </p:nvSpPr>
        <p:spPr>
          <a:xfrm>
            <a:off x="5303520" y="3557016"/>
            <a:ext cx="3383280" cy="841248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0" y="3648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Negligencia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98678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Créditos en mora, sin garantías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Implicancias: el daño se expande</a:t>
            </a:r>
            <a:endParaRPr lang="en-US" sz="3000" dirty="0"/>
          </a:p>
        </p:txBody>
      </p:sp>
      <p:sp>
        <p:nvSpPr>
          <p:cNvPr id="4" name="Implicancia ORGANIZACIONALES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5" name="Círculo ícono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ORGANIZACIONALES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 años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 inhabilidad; AGF revocada y en quiebra</a:t>
            </a:r>
            <a:endParaRPr lang="en-US" sz="1400" dirty="0"/>
          </a:p>
        </p:txBody>
      </p:sp>
      <p:sp>
        <p:nvSpPr>
          <p:cNvPr id="10" name="Implicancia SOCIALES"/>
          <p:cNvSpPr/>
          <p:nvPr/>
        </p:nvSpPr>
        <p:spPr>
          <a:xfrm>
            <a:off x="324612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1" name="Círculo ícono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08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SOCIALES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85%</a:t>
            </a:r>
            <a:endParaRPr lang="en-US" sz="48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deterioro máximo en fondos: ahorros sin fecha de retorno</a:t>
            </a:r>
            <a:endParaRPr lang="en-US" sz="1400" dirty="0"/>
          </a:p>
        </p:txBody>
      </p:sp>
      <p:sp>
        <p:nvSpPr>
          <p:cNvPr id="16" name="Implicancia REPUTACIONALES"/>
          <p:cNvSpPr/>
          <p:nvPr/>
        </p:nvSpPr>
        <p:spPr>
          <a:xfrm>
            <a:off x="60350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7" name="Círculo ícono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REPUTACIONALES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Confianza</a:t>
            </a:r>
            <a:endParaRPr lang="en-US" sz="32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 el mercado de fondos y en la U. de Chile, dañada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Tres escuelas, un veredicto</a:t>
            </a:r>
            <a:endParaRPr lang="en-US" sz="3000" dirty="0"/>
          </a:p>
        </p:txBody>
      </p:sp>
      <p:sp>
        <p:nvSpPr>
          <p:cNvPr id="4" name="Escuela Utilitarismo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5" name="Círculo ícono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Utilitarismo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¿Maximiza el bienestar total?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No: beneficio para pocos, pérdidas para muchos aportantes.</a:t>
            </a:r>
            <a:endParaRPr lang="en-US" sz="1500" dirty="0"/>
          </a:p>
        </p:txBody>
      </p:sp>
      <p:sp>
        <p:nvSpPr>
          <p:cNvPr id="10" name="Escuela Deber (Kant)"/>
          <p:cNvSpPr/>
          <p:nvPr/>
        </p:nvSpPr>
        <p:spPr>
          <a:xfrm>
            <a:off x="324612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1" name="Círculo ícono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08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Deber (Kant)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¿Trata al otro como fin?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No: usó a los aportantes como medio y ocultó la verdad.</a:t>
            </a:r>
            <a:endParaRPr lang="en-US" sz="1500" dirty="0"/>
          </a:p>
        </p:txBody>
      </p:sp>
      <p:sp>
        <p:nvSpPr>
          <p:cNvPr id="16" name="Escuela Ética de la virtud"/>
          <p:cNvSpPr/>
          <p:nvPr/>
        </p:nvSpPr>
        <p:spPr>
          <a:xfrm>
            <a:off x="60350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7" name="Círculo ícono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Ética de la virtud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¿Qué haría un buen administrador?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Faltaron honestidad, prudencia y justicia.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TÚ ERES DIRECTOR · NOVIEMBRE 2023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7772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Sabes que Danke no está pagando. Hay que firmar los estados financieros. ¿Qué haces?</a:t>
            </a:r>
            <a:endParaRPr lang="en-US" sz="2800" dirty="0"/>
          </a:p>
        </p:txBody>
      </p:sp>
      <p:sp>
        <p:nvSpPr>
          <p:cNvPr id="5" name="Opción A"/>
          <p:cNvSpPr/>
          <p:nvPr/>
        </p:nvSpPr>
        <p:spPr>
          <a:xfrm>
            <a:off x="45720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420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Firmas y esperas que se arregle</a:t>
            </a:r>
            <a:endParaRPr lang="en-US" sz="1800" dirty="0"/>
          </a:p>
        </p:txBody>
      </p:sp>
      <p:sp>
        <p:nvSpPr>
          <p:cNvPr id="8" name="Opción B"/>
          <p:cNvSpPr/>
          <p:nvPr/>
        </p:nvSpPr>
        <p:spPr>
          <a:xfrm>
            <a:off x="324612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5420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B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Exiges reflejar la pérdida</a:t>
            </a:r>
            <a:endParaRPr lang="en-US" sz="1800" dirty="0"/>
          </a:p>
        </p:txBody>
      </p:sp>
      <p:sp>
        <p:nvSpPr>
          <p:cNvPr id="11" name="Opción C"/>
          <p:cNvSpPr/>
          <p:nvPr/>
        </p:nvSpPr>
        <p:spPr>
          <a:xfrm>
            <a:off x="603504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5420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Renuncias y denuncias a la CMF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o 3 voluntarios justifican su opción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integrante"/>
          <p:cNvSpPr txBox="1"/>
          <p:nvPr/>
        </p:nvSpPr>
        <p:spPr>
          <a:xfrm>
            <a:off x="7589520" y="201168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Integrante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APRENDIZAJE</a:t>
            </a:r>
            <a:endParaRPr lang="en-US" sz="1100" dirty="0"/>
          </a:p>
        </p:txBody>
      </p:sp>
      <p:sp>
        <p:nvSpPr>
          <p:cNvPr id="4" name="Aprendizaje central"/>
          <p:cNvSpPr txBox="1"/>
          <p:nvPr/>
        </p:nvSpPr>
        <p:spPr>
          <a:xfrm>
            <a:off x="457200" y="7315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La confianza es el activo, y no es tuyo.</a:t>
            </a:r>
            <a:endParaRPr lang="en-US" sz="3800" dirty="0"/>
          </a:p>
        </p:txBody>
      </p:sp>
      <p:sp>
        <p:nvSpPr>
          <p:cNvPr id="5" name="VOTEMOS DE NUEVO"/>
          <p:cNvSpPr/>
          <p:nvPr/>
        </p:nvSpPr>
        <p:spPr>
          <a:xfrm>
            <a:off x="457200" y="2148840"/>
            <a:ext cx="393192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VOTEMOS DE NUEVO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¿Le prestas a tu empresa?  Sí · No · Depende</a:t>
            </a:r>
            <a:endParaRPr lang="en-US" sz="2000" dirty="0"/>
          </a:p>
        </p:txBody>
      </p:sp>
      <p:sp>
        <p:nvSpPr>
          <p:cNvPr id="8" name="PARA DISCUTIR"/>
          <p:cNvSpPr/>
          <p:nvPr/>
        </p:nvSpPr>
        <p:spPr>
          <a:xfrm>
            <a:off x="4663440" y="2148840"/>
            <a:ext cx="393192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PARA DISCUTIR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6974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¿La sanción fue justa o el regulador llegó tarde?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Fuentes: CMF, Diario Financiero, La Tercera, CIPER, BioBío, El Mostrador, The Clinic. Arista penal en investigación: rige la presunción de inocencia.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rtor Petroleo">
  <a:themeElements>
    <a:clrScheme name="Sartor Petroleo">
      <a:dk1>
        <a:srgbClr val="0B2A33"/>
      </a:dk1>
      <a:lt1>
        <a:srgbClr val="FFFFFF"/>
      </a:lt1>
      <a:dk2>
        <a:srgbClr val="123E4A"/>
      </a:dk2>
      <a:lt2>
        <a:srgbClr val="9DB8BF"/>
      </a:lt2>
      <a:accent1>
        <a:srgbClr val="F2A531"/>
      </a:accent1>
      <a:accent2>
        <a:srgbClr val="2A5A67"/>
      </a:accent2>
      <a:accent3>
        <a:srgbClr val="6E8F96"/>
      </a:accent3>
      <a:accent4>
        <a:srgbClr val="C9D8DB"/>
      </a:accent4>
      <a:accent5>
        <a:srgbClr val="B97A16"/>
      </a:accent5>
      <a:accent6>
        <a:srgbClr val="3F7280"/>
      </a:accent6>
      <a:hlink>
        <a:srgbClr val="F2A531"/>
      </a:hlink>
      <a:folHlink>
        <a:srgbClr val="C9D8DB"/>
      </a:folHlink>
    </a:clrScheme>
    <a:fontScheme name="Sartor Petrole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Sartor AGF</dc:title>
  <dc:subject>PptxGenJS Presentation</dc:subject>
  <dc:creator>PptxGenJS</dc:creator>
  <cp:lastModifiedBy>PptxGenJS</cp:lastModifiedBy>
  <cp:revision>1</cp:revision>
  <dcterms:created xsi:type="dcterms:W3CDTF">2026-10-09T21:33:05Z</dcterms:created>
  <dcterms:modified xsi:type="dcterms:W3CDTF">2026-10-09T21:33:05Z</dcterms:modified>
</cp:coreProperties>
</file>